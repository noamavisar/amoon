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</ns0:sldIdLst>
  <ns0:sldSz cx="12192000" cy="6858000" type="screen4x3"/>
  <ns0:notesSz cx="6858000" cy="9144000"/>
  <ns0:embeddedFontLst>
    <ns0:embeddedFont>
      <ns0:font typeface="Inter"/>
      <ns0:bold ns1:id="rIdFont28"/>
      <ns0:regular ns1:id="rIdFont2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Font28" Type="http://schemas.openxmlformats.org/officeDocument/2006/relationships/font" Target="fonts/7455acdf-d440-44d3-a8be-db957d81638f.fntdata" /><ns0:Relationship Id="rIdFont29" Type="http://schemas.openxmlformats.org/officeDocument/2006/relationships/font" Target="fonts/93e04735-389a-4ed1-a80b-cd0c6039852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0037" y="1225004"/>
            <a:ext cx="3971925" cy="342900"/>
          </a:xfrm>
          <a:prstGeom prst="roundRect">
            <a:avLst>
              <a:gd name="adj" fmla="val 1111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67087" y="4661445"/>
            <a:ext cx="5457825" cy="971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67087" y="4661445"/>
            <a:ext cx="54578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1637" y="5151983"/>
            <a:ext cx="9525" cy="4572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99" y="1872704"/>
            <a:ext cx="10413801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FFFFF"/>
                </a:solidFill>
                <a:latin typeface="Inter"/>
              </a:rPr>
              <a:t>AgileRPM® / Agility Health</a:t>
            </a:r>
            <a:r>
              <a:t>
</a:t>
            </a:r>
            <a:r>
              <a:rPr b="1" sz="4800" i="0" u="none">
                <a:solidFill>
                  <a:srgbClr val="FFFFFF"/>
                </a:solidFill>
                <a:latin typeface="Inter"/>
              </a:rPr>
              <a:t> Investment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3564284"/>
            <a:ext cx="952500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Enterprise SaaS Platform for Physical Rehabilitation Practice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4046" y="1301204"/>
            <a:ext cx="45839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AGILITY HEALTH, INC. • TSX.V: AHI (DEMO)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7087" y="5128170"/>
            <a:ext cx="2262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Target 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7087" y="5356770"/>
            <a:ext cx="2262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2E8F0"/>
                </a:solidFill>
                <a:latin typeface="Inter"/>
              </a:rPr>
              <a:t>$12.0M Series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5962" y="5128170"/>
            <a:ext cx="3786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Tagline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5962" y="5356770"/>
            <a:ext cx="3786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2E8F0"/>
                </a:solidFill>
                <a:latin typeface="Inter"/>
              </a:rPr>
              <a:t>"Serving Together. Better."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1343025"/>
            <a:ext cx="52578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3019425"/>
            <a:ext cx="52578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4695825"/>
            <a:ext cx="52578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600" y="6372225"/>
            <a:ext cx="52578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4600" y="1343025"/>
            <a:ext cx="38100" cy="1447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4600" y="3019425"/>
            <a:ext cx="38100" cy="14478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4600" y="4695825"/>
            <a:ext cx="38100" cy="14478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4600" y="6372225"/>
            <a:ext cx="38100" cy="1219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43025"/>
            <a:ext cx="5257800" cy="6248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Investment 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1571625"/>
            <a:ext cx="5600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The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1876425"/>
            <a:ext cx="4857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Digitizing a $38.5B Fragmented Physical Rehabilitation Market burdened by manual administrative workflows, billing inefficiencies, and therapist burnout.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3248025"/>
            <a:ext cx="5600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Proven Clinical Origin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3552825"/>
            <a:ext cx="4857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Developed and battle-tested within Agility Health's nationwide network of 155+ rehabilitation clinics and 1.0M+ annual patient visits.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300" y="4924425"/>
            <a:ext cx="5600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Proprietary SaaS &amp; 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1300" y="5229225"/>
            <a:ext cx="4857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Deployed in 32 clinics with $2.1M ARR, demonstrating a 28% reduction in admin time per therapist and an 18% decrease in claim denials.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300" y="6600825"/>
            <a:ext cx="5600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Investment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1300" y="6905625"/>
            <a:ext cx="485775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$3.0M USD lead check as part of a $12.0M Series A round to scale sales and deploy AI auto-coding.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457825"/>
            <a:ext cx="10972800" cy="857250"/>
          </a:xfrm>
          <a:prstGeom prst="roundRect">
            <a:avLst>
              <a:gd name="adj" fmla="val 8888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28750"/>
            <a:ext cx="5257800" cy="3571875"/>
          </a:xfrm>
          <a:prstGeom prst="roundRect">
            <a:avLst>
              <a:gd name="adj" fmla="val 42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1428750"/>
            <a:ext cx="5257800" cy="3571875"/>
          </a:xfrm>
          <a:prstGeom prst="roundRect">
            <a:avLst>
              <a:gd name="adj" fmla="val 42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428750"/>
            <a:ext cx="5257800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4600" y="1428750"/>
            <a:ext cx="5257800" cy="76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033587"/>
            <a:ext cx="428625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033587"/>
            <a:ext cx="47625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-381000" y="457200"/>
            <a:ext cx="12954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Inter"/>
              </a:rPr>
              <a:t>COMPANY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81000" y="695325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Inter"/>
              </a:rPr>
              <a:t>Dual-Engine Operating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90500" y="5686425"/>
            <a:ext cx="1257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369A1"/>
                </a:solidFill>
                <a:latin typeface="Inter"/>
              </a:rPr>
              <a:t>Corporate Mission: Unifying physical therapy clinical excellence with enterprise software automation to maximize therapist productivity and clinic profitability.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2790825"/>
            <a:ext cx="5429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Core Activity: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PT clinic operation &amp; contract therapy.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133725"/>
            <a:ext cx="5429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Locations: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155+ service sites across 22 U.S. states.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476625"/>
            <a:ext cx="5429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Volume: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1,000,000+ patient visits annually.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3819525"/>
            <a:ext cx="5429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Team Size: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700+ total employees (PTs, OTs, admin).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162425"/>
            <a:ext cx="4438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Revenue Model: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Service fee per visit &amp; long-term care contracts.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2790825"/>
            <a:ext cx="5410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Core Activity: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Cloud practice management &amp; EHR SaaS.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3133725"/>
            <a:ext cx="5410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Locations: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32 operational clinical sites.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3476625"/>
            <a:ext cx="5410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Volume: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720 active daily clinical users.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3819525"/>
            <a:ext cx="5410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Team Size: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18 dedicated software engineers &amp; support.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800" y="4162425"/>
            <a:ext cx="5410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Inter"/>
              </a:rPr>
              <a:t>Revenue Model: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Per-user monthly sub + % RCM.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24025" y="1962150"/>
            <a:ext cx="2750343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Clinical Division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24025" y="2286000"/>
            <a:ext cx="2619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Agility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6650" y="1962150"/>
            <a:ext cx="3012876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Software Division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6650" y="2286000"/>
            <a:ext cx="2869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AgileRPM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43175"/>
            <a:ext cx="2571750" cy="27241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543175"/>
            <a:ext cx="2571750" cy="27241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543175"/>
            <a:ext cx="2571750" cy="27241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543175"/>
            <a:ext cx="2571750" cy="27241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Management &amp; Leadership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525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100+ Combined Years of Healthcare Operations &amp; Finance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47975"/>
            <a:ext cx="216027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Steve Davidson, PT, MBA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43275"/>
            <a:ext cx="2452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Chief Executive Officer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4750" y="2847975"/>
            <a:ext cx="216027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Gene K. Miyamoto, MHSA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4750" y="3343275"/>
            <a:ext cx="2452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Chief Operating Officer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2847975"/>
            <a:ext cx="257532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Ken Scholten, 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114675"/>
            <a:ext cx="2452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President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5450" y="2847975"/>
            <a:ext cx="257532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Terry Vanderkruyk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5450" y="3114675"/>
            <a:ext cx="2452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Chief Corp Dev Officer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62375"/>
            <a:ext cx="2057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29+ years healthcare operational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0525"/>
            <a:ext cx="2452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Licensed Physical Therapist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76750"/>
            <a:ext cx="2057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Led acquisition &amp; integration of 40+ clinics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4750" y="3762375"/>
            <a:ext cx="2057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30+ years health services administration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4750" y="4200525"/>
            <a:ext cx="2057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Hospital contract management veteran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4750" y="4638675"/>
            <a:ext cx="2057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Former executive for multi-site networks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3533775"/>
            <a:ext cx="2057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35+ years in physical therapy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100" y="3971925"/>
            <a:ext cx="2057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Clinical workflow design expert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4410075"/>
            <a:ext cx="2057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Architect of AgileRPM protocols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5450" y="3533775"/>
            <a:ext cx="2057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30+ years public &amp; private healthcare M&amp;A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5450" y="3971925"/>
            <a:ext cx="2057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Life sciences corporate finance leadership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5450" y="4410075"/>
            <a:ext cx="2452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 Supervisor of capital raising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471737"/>
            <a:ext cx="2745581" cy="923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55181" y="2471737"/>
            <a:ext cx="2745581" cy="923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00762" y="2471737"/>
            <a:ext cx="2745581" cy="923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852862"/>
            <a:ext cx="53340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400" y="3852862"/>
            <a:ext cx="53340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45656" y="2471737"/>
            <a:ext cx="9525" cy="9239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1237" y="2471737"/>
            <a:ext cx="9525" cy="9239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36818" y="2471737"/>
            <a:ext cx="9525" cy="9239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852862"/>
            <a:ext cx="38100" cy="14859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400" y="3852862"/>
            <a:ext cx="38100" cy="14859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176712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4176712"/>
            <a:ext cx="1428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381000" y="457200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Inter"/>
              </a:rPr>
              <a:t>Business Units &amp; Clinical Footprint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81000" y="952500"/>
            <a:ext cx="1295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Diverse Operational Revenue Streams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592" y="2471737"/>
            <a:ext cx="342007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Inter"/>
              </a:rP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592" y="3195637"/>
            <a:ext cx="342007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Outpatient Clinics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3174" y="2471737"/>
            <a:ext cx="342007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Inter"/>
              </a:rPr>
              <a:t>38%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3174" y="3195637"/>
            <a:ext cx="342007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Long-Term 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8755" y="2471737"/>
            <a:ext cx="342007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Inter"/>
              </a:rPr>
              <a:t>17%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8755" y="3195637"/>
            <a:ext cx="342007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Hospital Contracts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4336" y="2471737"/>
            <a:ext cx="342007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Inter"/>
              </a:rPr>
              <a:t>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4336" y="3195637"/>
            <a:ext cx="342007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Industrial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" y="4157662"/>
            <a:ext cx="6150768" cy="228600"/>
          </a:xfrm>
          <a:prstGeom prst="rect">
            <a:avLst/>
          </a:prstGeom>
          <a:noFill/>
        </p:spPr>
        <p:txBody>
          <a:bodyPr wrap="none" lIns="3048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Low Government Payor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" y="4462462"/>
            <a:ext cx="47815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Medicare and Medicaid represent only ~10% of direct receivables across clinical divisions.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1300" y="4157662"/>
            <a:ext cx="5600700" cy="228600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Commercial Diversity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1300" y="4462462"/>
            <a:ext cx="47815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Strong enterprise relationships across automotive, manufacturing, and hospital sectors driving steady recurring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238750"/>
            <a:ext cx="10972800" cy="1162050"/>
          </a:xfrm>
          <a:prstGeom prst="roundRect">
            <a:avLst>
              <a:gd name="adj" fmla="val 983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09700"/>
            <a:ext cx="6807249" cy="337185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74049" y="1409700"/>
            <a:ext cx="3708350" cy="337185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71700"/>
            <a:ext cx="1514475" cy="4572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57475" y="2171700"/>
            <a:ext cx="981075" cy="4572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67150" y="2171700"/>
            <a:ext cx="1819275" cy="4572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857500"/>
            <a:ext cx="1914525" cy="4572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57525" y="2857500"/>
            <a:ext cx="1152525" cy="4572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8650" y="2857500"/>
            <a:ext cx="2085975" cy="4572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543300"/>
            <a:ext cx="1552575" cy="4572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95575" y="3543300"/>
            <a:ext cx="1876425" cy="4572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8849" y="2628900"/>
            <a:ext cx="3098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78849" y="3248025"/>
            <a:ext cx="3098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Enterprise Customer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9525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Agility Health and AgileRPM provide contracted services and software to premier commercial enterprises: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43550"/>
            <a:ext cx="4980622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Inter"/>
              </a:rPr>
              <a:t>Clinical Endorsement: 94% Retention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7350" y="5619750"/>
            <a:ext cx="5810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94A3B8"/>
                </a:solidFill>
                <a:latin typeface="Inter"/>
              </a:rPr>
              <a:t>Among contracted enterprise clinic partners over trailing 3-year period (2022-2025).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714500"/>
            <a:ext cx="813441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INDUSTRIAL &amp; CORPORATE FORTUNE 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8849" y="1714500"/>
            <a:ext cx="4013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HEALTHCARE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286000"/>
            <a:ext cx="11525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John Deere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6075" y="2286000"/>
            <a:ext cx="619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Alcoa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5750" y="2286000"/>
            <a:ext cx="14573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Ford Motor Co.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2971800"/>
            <a:ext cx="1552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Continental Tire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86125" y="2971800"/>
            <a:ext cx="790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Amway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7250" y="2971800"/>
            <a:ext cx="17240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American Airlines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657600"/>
            <a:ext cx="1190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United 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4175" y="3657600"/>
            <a:ext cx="15144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Pratt &amp; Whitney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149" y="2286000"/>
            <a:ext cx="29654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Trinity 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149" y="2905125"/>
            <a:ext cx="29654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Amica Mutual Insurance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149" y="3524250"/>
            <a:ext cx="2965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Inter"/>
              </a:rPr>
              <a:t>WTA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10972800" cy="35337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409700"/>
          <a:ext cx="10972799" cy="35337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84077"/>
                <a:gridCol w="2479030"/>
                <a:gridCol w="1910060"/>
                <a:gridCol w="4199632"/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Inter"/>
                        </a:rPr>
                        <a:t>Year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Inter"/>
                        </a:rPr>
                        <a:t>Revenue ($ USD)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Inter"/>
                        </a:rPr>
                        <a:t>YoY Growth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Inter"/>
                        </a:rPr>
                        <a:t>Primary Revenue Driver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2020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$46.8M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-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Outpatient clinic expansion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2021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$52.1M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+11.3%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Hospital contract therapy wins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2022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$55.3M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+6.1%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Regional M&amp;A clinic consolidation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2023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$60.2M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+8.9%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Industrial health contract additions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2024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0000"/>
                          </a:solidFill>
                          <a:latin typeface="Inter"/>
                        </a:rPr>
                        <a:t>$63.0M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Inter"/>
                        </a:rPr>
                        <a:t>+4.6%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Initial AgileRPM SaaS rollouts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Inter"/>
                        </a:rPr>
                        <a:t>2025 (Run Rate)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Inter"/>
                        </a:rPr>
                        <a:t>$65.5M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Inter"/>
                        </a:rPr>
                        <a:t>+4.0%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Inter"/>
                        </a:rPr>
                        <a:t>SaaS recurring revenue expansion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-381000" y="457200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Inter"/>
              </a:rPr>
              <a:t>Historical Financial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381000" y="952500"/>
            <a:ext cx="1295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Stable revenue floor from core PT services while scaling the software division.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400675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Adjusted EBITDA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5781675"/>
            <a:ext cx="2286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64748B"/>
                </a:solidFill>
                <a:latin typeface="Inter"/>
              </a:rPr>
              <a:t>$0.8M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191250"/>
            <a:ext cx="2286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F172A"/>
                </a:solidFill>
                <a:latin typeface="Inter"/>
              </a:rPr>
              <a:t>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9800" y="5781675"/>
            <a:ext cx="2286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64748B"/>
                </a:solidFill>
                <a:latin typeface="Inter"/>
              </a:rPr>
              <a:t>$1.7M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9800" y="6191250"/>
            <a:ext cx="2286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F172A"/>
                </a:solidFill>
                <a:latin typeface="Inter"/>
              </a:rPr>
              <a:t>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8600" y="5781675"/>
            <a:ext cx="2286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64748B"/>
                </a:solidFill>
                <a:latin typeface="Inter"/>
              </a:rPr>
              <a:t>$2.6M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8600" y="6191250"/>
            <a:ext cx="2286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F172A"/>
                </a:solidFill>
                <a:latin typeface="Inter"/>
              </a:rPr>
              <a:t>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7400" y="5781675"/>
            <a:ext cx="2286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Inter"/>
              </a:rPr>
              <a:t>$2.9M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7400" y="6191250"/>
            <a:ext cx="2286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5781675"/>
            <a:ext cx="2286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Inter"/>
              </a:rPr>
              <a:t>$3.2M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6200" y="6191250"/>
            <a:ext cx="2286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0" y="5781675"/>
            <a:ext cx="2286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Inter"/>
              </a:rPr>
              <a:t>$3.4M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0" y="6191250"/>
            <a:ext cx="2286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2514600" cy="257175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52800" y="1409700"/>
            <a:ext cx="2514600" cy="257175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210050"/>
            <a:ext cx="2514600" cy="2371725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52800" y="4210050"/>
            <a:ext cx="2514600" cy="2371725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409700"/>
            <a:ext cx="5257800" cy="5172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1450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714500"/>
            <a:ext cx="3429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14850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514850"/>
            <a:ext cx="2667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Product Deep Dive: AgileRPM Software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525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Enterprise Software Tailored for Physical Rehabilitation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71700"/>
            <a:ext cx="2500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Core Functionality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76500"/>
            <a:ext cx="2000250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Integrated cloud EHR, patient scheduling, automated documentation, compliance tracking, work queues, billing, and patient outcome analytics.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171700"/>
            <a:ext cx="2500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Intended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476500"/>
            <a:ext cx="20002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Administrative practice management. Non-device software: Does not diagnose, treat, or provide automated clinical treatment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72050"/>
            <a:ext cx="2500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Product 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76850"/>
            <a:ext cx="20002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Commercialized. Version 3.2 is currently active across 32 clinics and 720 daily active clinicians.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972050"/>
            <a:ext cx="2500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Key 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276850"/>
            <a:ext cx="2000250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Proprietary data layer of 1M+ clinical treatment logs used to generate workflow optimizations and reduce claim denials.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9700"/>
            <a:ext cx="5638800" cy="499110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72500" y="3662362"/>
            <a:ext cx="22860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72500" y="4014787"/>
            <a:ext cx="22860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72500" y="4367212"/>
            <a:ext cx="22860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72500" y="4719637"/>
            <a:ext cx="22860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0" y="3662362"/>
            <a:ext cx="800100" cy="152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0" y="4014787"/>
            <a:ext cx="685800" cy="1524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72500" y="4367212"/>
            <a:ext cx="457200" cy="152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72500" y="4719637"/>
            <a:ext cx="342900" cy="152400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90600" y="1790700"/>
          <a:ext cx="4876800" cy="39909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38400"/>
                <a:gridCol w="2438400"/>
              </a:tblGrid>
              <a:tr h="570139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Financing Round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Series A Growth Round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0139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Total Round Target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Inter"/>
                        </a:rPr>
                        <a:t>$12,000,000 USD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0139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Requested Fund Check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Inter"/>
                        </a:rPr>
                        <a:t>$3,000,000 USD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0139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Instrument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Priced Equity (Preferred Shares)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0139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Equity Offered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20.0% (Round) / 5.0% (Fund)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0139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Historical R&amp;D Raised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$3,500,000 USD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0141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Existing Investors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HealthTech Ventures, BlueSky Capital, Founders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Investment Opportunity &amp; Deal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9525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Series A Equity Terms &amp; Capital 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293370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Target Funded Runway: 24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3238500"/>
            <a:ext cx="5486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Use of Funds Breakdown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3657600"/>
            <a:ext cx="2143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Product &amp; AI R&amp;D (35%)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150" y="3657600"/>
            <a:ext cx="857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0284C7"/>
                </a:solidFill>
                <a:latin typeface="Inter"/>
              </a:rPr>
              <a:t>$4.2M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0" y="4010025"/>
            <a:ext cx="2143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Sales &amp; Marketing (30%)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5150" y="4010025"/>
            <a:ext cx="857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0284C7"/>
                </a:solidFill>
                <a:latin typeface="Inter"/>
              </a:rPr>
              <a:t>$3.6M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600" y="4362450"/>
            <a:ext cx="2143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Customer Success (20%)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5150" y="4362450"/>
            <a:ext cx="857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0284C7"/>
                </a:solidFill>
                <a:latin typeface="Inter"/>
              </a:rPr>
              <a:t>$2.4M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600" y="4714875"/>
            <a:ext cx="2143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Regulatory &amp; Cyber (15%)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150" y="4714875"/>
            <a:ext cx="857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0284C7"/>
                </a:solidFill>
                <a:latin typeface="Inter"/>
              </a:rPr>
              <a:t>$1.8M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09687"/>
            <a:ext cx="10972800" cy="1476375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219200" y="3014662"/>
            <a:ext cx="10363200" cy="1476375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4719637"/>
            <a:ext cx="9753600" cy="1476375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309687"/>
            <a:ext cx="114300" cy="14763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9200" y="3014662"/>
            <a:ext cx="114300" cy="1476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4719637"/>
            <a:ext cx="114300" cy="14763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381000" y="457200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Inter"/>
              </a:rPr>
              <a:t>Target Market &amp; Customer 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2450" y="1766887"/>
            <a:ext cx="3690937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$38.5B </a:t>
            </a:r>
            <a:r>
              <a:rPr b="0" sz="1500" i="0" u="none">
                <a:solidFill>
                  <a:srgbClr val="64748B"/>
                </a:solidFill>
                <a:latin typeface="Inter"/>
              </a:rPr>
              <a:t>(6.2% CAGR)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63125" y="3471862"/>
            <a:ext cx="1702593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284C7"/>
                </a:solidFill>
                <a:latin typeface="Inter"/>
              </a:rPr>
              <a:t>$2.8B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86900" y="5176837"/>
            <a:ext cx="204787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$350M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1771650"/>
            <a:ext cx="557569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U.S. PHYSICAL THERAPY TAM (2025)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2124075"/>
            <a:ext cx="5310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Total Addressable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0700" y="3476625"/>
            <a:ext cx="623827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Inter"/>
              </a:rPr>
              <a:t>REHAB PRACTICE MANAGEMENT 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0700" y="3829050"/>
            <a:ext cx="5941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Serviceable Addressable Market (32,000+ U.S. PT Clinics)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0300" y="5181600"/>
            <a:ext cx="856357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AGILERPM SOM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0300" y="5534025"/>
            <a:ext cx="8155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Serviceable Obtainable Market (Outpatient Chains 10-100 Locations &amp; Hospitals)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52773"/>
            <a:ext cx="5334000" cy="1678185"/>
          </a:xfrm>
          <a:prstGeom prst="roundRect">
            <a:avLst>
              <a:gd name="adj" fmla="val 68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952773"/>
            <a:ext cx="5334000" cy="1678185"/>
          </a:xfrm>
          <a:prstGeom prst="roundRect">
            <a:avLst>
              <a:gd name="adj" fmla="val 68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35759"/>
            <a:ext cx="5334000" cy="1921966"/>
          </a:xfrm>
          <a:prstGeom prst="roundRect">
            <a:avLst>
              <a:gd name="adj" fmla="val 59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3935759"/>
            <a:ext cx="5334000" cy="1921966"/>
          </a:xfrm>
          <a:prstGeom prst="roundRect">
            <a:avLst>
              <a:gd name="adj" fmla="val 59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357586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57586"/>
            <a:ext cx="2571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4340572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340572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Market Dynamics &amp; Macro Growth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525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Macro Drivers Accelerating Software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2762398"/>
            <a:ext cx="46672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2.4% annual increase in U.S. residents aged 50+, expanding demand for outpatient orthopedics and mobility restoration.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62398"/>
            <a:ext cx="46672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Physical therapists spend up to 35% of daily working hours on manual billing and paper documentation.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4745384"/>
            <a:ext cx="46672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Health plans actively redirecting care from expensive hospital inpatient settings to independent outpatient centers.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745384"/>
            <a:ext cx="46672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Top 8 PT chains control only 11.3% of the U.S. market; 88%+ of clinics are independent or small regional chains needing modern software.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3025" y="2333773"/>
            <a:ext cx="307538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Aging Demographics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8975" y="2333773"/>
            <a:ext cx="267533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Therapist Burnout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750" y="4316759"/>
            <a:ext cx="383797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Outpatient Care Migration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0" y="4316759"/>
            <a:ext cx="39004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Highly Fragmented Market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7850"/>
            <a:ext cx="10972800" cy="33432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847850"/>
          <a:ext cx="10972797" cy="33432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94470"/>
                <a:gridCol w="2194470"/>
                <a:gridCol w="2194470"/>
                <a:gridCol w="2194470"/>
                <a:gridCol w="2194917"/>
              </a:tblGrid>
              <a:tr h="47761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Feature/Metric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8BDF8"/>
                          </a:solidFill>
                          <a:latin typeface="Inter"/>
                        </a:rPr>
                        <a:t>AgileRPM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94A3B8"/>
                          </a:solidFill>
                          <a:latin typeface="Inter"/>
                        </a:rPr>
                        <a:t>WebPT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94A3B8"/>
                          </a:solidFill>
                          <a:latin typeface="Inter"/>
                        </a:rPr>
                        <a:t>Raintree Systems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94A3B8"/>
                          </a:solidFill>
                          <a:latin typeface="Inter"/>
                        </a:rPr>
                        <a:t>Net Health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7761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Target Focus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Outpatient &amp; Hospital 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Small Independent PTs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Enterprise Rehab Chains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Hospital / Wound Care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761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Deployment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Modern Cloud SaaS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Legacy Web / Cloud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On-Premise / Hosted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Hybrid Cloud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761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Clinic-Tested Origin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Yes (155+ active sites)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No (Pure Software)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No (Pure Software)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No (Pure Software)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761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Integrated Billing (RCM)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Native Automated RCM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Third-Party Add-on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Complex Setup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Enterprise Add-on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761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Therapist Admin Savings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284C7"/>
                          </a:solidFill>
                          <a:latin typeface="Inter"/>
                        </a:rPr>
                        <a:t>28% Average Reduction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~12% Reduction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~15% Reduction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~10% Reduction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761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Pricing Model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$299/provider/mo + RCM 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$349/provider/mo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Custom Enterprise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High Upfront + License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Competitive Landscape &amp;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495925"/>
            <a:ext cx="4179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1. Built by PTs: Eliminates redundant clinical clicks.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6275" y="5495925"/>
            <a:ext cx="4000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2. End-to-End: Unifies scheduling, EMR &amp; billing.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67675" y="5495925"/>
            <a:ext cx="41243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3. Data Engine: Benchmarks outcomes vs duration.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93256" y="2486025"/>
            <a:ext cx="9525" cy="1028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1237" y="2486025"/>
            <a:ext cx="9525" cy="1028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89218" y="2486025"/>
            <a:ext cx="9525" cy="1028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276725"/>
            <a:ext cx="25146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4276725"/>
            <a:ext cx="25146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8400" y="4276725"/>
            <a:ext cx="25146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67800" y="4276725"/>
            <a:ext cx="25146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381000" y="457200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Inter"/>
              </a:rPr>
              <a:t>Commercial Traction &amp; SaaS Unit Economics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81000" y="952500"/>
            <a:ext cx="1295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Trailing 12 Months Metrics (2024-2025)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742" y="2486025"/>
            <a:ext cx="284857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284C7"/>
                </a:solidFill>
                <a:latin typeface="Inter"/>
              </a:rPr>
              <a:t>$2.1M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742" y="3286125"/>
            <a:ext cx="284857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4748B"/>
                </a:solidFill>
                <a:latin typeface="Inter"/>
              </a:rPr>
              <a:t>ARR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2724" y="2486025"/>
            <a:ext cx="284857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Inter"/>
              </a:rPr>
              <a:t>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2724" y="3286125"/>
            <a:ext cx="284857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4748B"/>
                </a:solidFill>
                <a:latin typeface="Inter"/>
              </a:rPr>
              <a:t>Active Clinics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0705" y="2486025"/>
            <a:ext cx="284857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Inter"/>
              </a:rPr>
              <a:t>16.2x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705" y="3286125"/>
            <a:ext cx="284857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4748B"/>
                </a:solidFill>
                <a:latin typeface="Inter"/>
              </a:rPr>
              <a:t>LTV/CAC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8686" y="2486025"/>
            <a:ext cx="284857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Inter"/>
              </a:rPr>
              <a:t>114%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8686" y="3286125"/>
            <a:ext cx="284857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4748B"/>
                </a:solidFill>
                <a:latin typeface="Inter"/>
              </a:rPr>
              <a:t>Net Rev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4505325"/>
            <a:ext cx="257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Daily Active Clinicians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4772025"/>
            <a:ext cx="2571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Inter"/>
              </a:rPr>
              <a:t>720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0425" y="4505325"/>
            <a:ext cx="257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ARPU (per provider)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0425" y="4772025"/>
            <a:ext cx="2571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Inter"/>
              </a:rPr>
              <a:t>$291/month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9825" y="4505325"/>
            <a:ext cx="257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CAC (per clinic)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9825" y="4772025"/>
            <a:ext cx="2571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Inter"/>
              </a:rPr>
              <a:t>$4,200 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9225" y="4505325"/>
            <a:ext cx="257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LTV (per clinic)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9225" y="4772025"/>
            <a:ext cx="25717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284C7"/>
                </a:solidFill>
                <a:latin typeface="Inter"/>
              </a:rPr>
              <a:t>$68,000 USD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08026"/>
            <a:ext cx="3454449" cy="2889646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308026"/>
            <a:ext cx="3454449" cy="2889646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308026"/>
            <a:ext cx="3454449" cy="2889646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308026"/>
            <a:ext cx="3454449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68849" y="2308026"/>
            <a:ext cx="3454449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99" y="2308026"/>
            <a:ext cx="3454449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Growth Strategy: Three-Pillar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822376"/>
            <a:ext cx="3175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PILLAR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060501"/>
            <a:ext cx="2767064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Internal Network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765351"/>
            <a:ext cx="263529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Expand AgileRPM from 32 to all 155+ Agility Health internal clinical locations, establishing an immediate software baseline.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49" y="2822376"/>
            <a:ext cx="3175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PILLAR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49" y="3060501"/>
            <a:ext cx="2767064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Direct Enterprise SaaS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49" y="3765351"/>
            <a:ext cx="263529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Deploy dedicated sales team targeting 300+ regional outpatient clinic networks (10-100 locations) across the U.S.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5299" y="2822376"/>
            <a:ext cx="3175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PILLAR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5299" y="3060501"/>
            <a:ext cx="2767064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Strategic M&amp;A Consolidation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5299" y="3765351"/>
            <a:ext cx="263529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Acquire small regional chains with positive clinic cash flow &amp; immediately deploy AgileRPM to lift operating margin.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09750" y="1581150"/>
            <a:ext cx="4057650" cy="2295525"/>
          </a:xfrm>
          <a:prstGeom prst="roundRect">
            <a:avLst>
              <a:gd name="adj" fmla="val 66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581150"/>
            <a:ext cx="4057650" cy="2295525"/>
          </a:xfrm>
          <a:prstGeom prst="roundRect">
            <a:avLst>
              <a:gd name="adj" fmla="val 66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09750" y="4333875"/>
            <a:ext cx="4057650" cy="2295525"/>
          </a:xfrm>
          <a:prstGeom prst="roundRect">
            <a:avLst>
              <a:gd name="adj" fmla="val 66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600" y="4333875"/>
            <a:ext cx="4057650" cy="2295525"/>
          </a:xfrm>
          <a:prstGeom prst="roundRect">
            <a:avLst>
              <a:gd name="adj" fmla="val 66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381000" y="457200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Inter"/>
              </a:rPr>
              <a:t>Operational Evidence &amp; Outcome Studies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952500"/>
            <a:ext cx="9525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12-Month Operational Pilot Study (n=32 active clinic sites): Statistically significant operational and financial efficiency gains demonstrated after implementing AgileRPM software.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043" y="2038350"/>
            <a:ext cx="3929062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284C7"/>
                </a:solidFill>
                <a:latin typeface="Inter"/>
              </a:rPr>
              <a:t>-28%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5817" y="2924175"/>
            <a:ext cx="412551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Admin Documentation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043" y="3228975"/>
            <a:ext cx="3929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Saves ~1.2 hrs per therapist daily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8893" y="2038350"/>
            <a:ext cx="3929062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284C7"/>
                </a:solidFill>
                <a:latin typeface="Inter"/>
              </a:rPr>
              <a:t>-18%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0667" y="2924175"/>
            <a:ext cx="412551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Initial Claim Denial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893" y="3228975"/>
            <a:ext cx="3929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Compared to legacy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043" y="4791075"/>
            <a:ext cx="3929062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Inter"/>
              </a:rPr>
              <a:t>36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5817" y="5676900"/>
            <a:ext cx="412551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Days in A/R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043" y="5981700"/>
            <a:ext cx="3929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Reduced from 48 days (-12d)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8893" y="4791075"/>
            <a:ext cx="3929062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Inter"/>
              </a:rPr>
              <a:t>99.4%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0667" y="5676900"/>
            <a:ext cx="412551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Audit Compliance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8893" y="5981700"/>
            <a:ext cx="3929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Medicare chart documentation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924425"/>
            <a:ext cx="10972800" cy="91440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666875"/>
            <a:ext cx="3454449" cy="280035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849" y="1666875"/>
            <a:ext cx="3454449" cy="280035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8099" y="1666875"/>
            <a:ext cx="3454449" cy="280035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924425"/>
            <a:ext cx="57150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5229225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875" y="2047875"/>
            <a:ext cx="28575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2047875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4749" y="2047875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381000" y="457200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Inter"/>
              </a:rPr>
              <a:t>Regulatory &amp; Compliance Positioning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904" y="2581275"/>
            <a:ext cx="353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FDA Regulatory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043" y="3114675"/>
            <a:ext cx="3365562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Exempt/Non-Device Medical Software. Performs practice management, EHR recordkeeping, scheduling, and billing. Does not perform medical diagnosis, clinical decision automation, or treatment recommendations.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9154" y="2581275"/>
            <a:ext cx="35338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HIPAA Compliant &amp;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3293" y="2886075"/>
            <a:ext cx="336556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Fully compliant with U.S. HIPAA privacy and security regulations. AES-256 at rest; TLS 1.3 in transit for all Protected Health Information (PHI).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8403" y="2581275"/>
            <a:ext cx="35338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SOC 2 Type 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2543" y="2886075"/>
            <a:ext cx="336556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Certified for cloud security, availability, and confidentiality.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4950" y="5153025"/>
            <a:ext cx="917614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40AF"/>
                </a:solidFill>
                <a:latin typeface="Inter"/>
              </a:rPr>
              <a:t>Future AI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4950" y="5419725"/>
            <a:ext cx="8739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3A8A"/>
                </a:solidFill>
                <a:latin typeface="Inter"/>
              </a:rPr>
              <a:t>Evaluating required regulation (e.g., 510k) for the upcoming AI-based auto-coding model launch.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09800"/>
            <a:ext cx="53340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209800"/>
            <a:ext cx="53340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62400"/>
            <a:ext cx="533400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3962400"/>
            <a:ext cx="533400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0600" y="2590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29400" y="2590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90600" y="434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86550" y="434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400" y="3962400"/>
            <a:ext cx="57150" cy="1638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Acquisition Criteria &amp; M&amp;A Synergies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525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Disciplined M&amp;A Strategy for Clinical Footprint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6337" y="2705100"/>
            <a:ext cx="3714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2590800"/>
            <a:ext cx="51006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Cultural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2895600"/>
            <a:ext cx="39814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Commitment to clinical quality and high therapist retention.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087" y="2705100"/>
            <a:ext cx="409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590800"/>
            <a:ext cx="4876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Management Participation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895600"/>
            <a:ext cx="39814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Ongoing participation and equity retention of local clinical founders.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7287" y="4457700"/>
            <a:ext cx="409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6400" y="4343400"/>
            <a:ext cx="51006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Strong Local Reputation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6400" y="4648200"/>
            <a:ext cx="39814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Established local brand equity in regional healthcare markets.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475" y="4457700"/>
            <a:ext cx="419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2350" y="4343400"/>
            <a:ext cx="48196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Immediate Software Synergy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2350" y="4648200"/>
            <a:ext cx="3924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Post-acquisition migration to AgileRPM yields instant 15-20% admin cost reduction through centralized RCM.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886325"/>
            <a:ext cx="10972800" cy="923925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886325"/>
            <a:ext cx="57150" cy="9239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695450"/>
            <a:ext cx="10972800" cy="28860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95450"/>
          <a:ext cx="10972797" cy="28860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67855"/>
                <a:gridCol w="1612106"/>
                <a:gridCol w="1491108"/>
                <a:gridCol w="1702742"/>
                <a:gridCol w="1692771"/>
                <a:gridCol w="2106215"/>
              </a:tblGrid>
              <a:tr h="5772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Inter"/>
                        </a:rPr>
                        <a:t>Company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Inter"/>
                        </a:rPr>
                        <a:t>Ticker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FFFFFF"/>
                          </a:solidFill>
                          <a:latin typeface="Inter"/>
                        </a:rPr>
                        <a:t>Outpatient 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FFFFFF"/>
                          </a:solidFill>
                          <a:latin typeface="Inter"/>
                        </a:rPr>
                        <a:t>Long-Term Care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FFFFFF"/>
                          </a:solidFill>
                          <a:latin typeface="Inter"/>
                        </a:rPr>
                        <a:t>Industrial Rehab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38BDF8"/>
                          </a:solidFill>
                          <a:latin typeface="Inter"/>
                        </a:rPr>
                        <a:t>Proprietary SaaS EHR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Agility Health / AgileRPM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TSX.V: AHI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284C7"/>
                          </a:solidFill>
                          <a:latin typeface="Inter"/>
                        </a:rPr>
                        <a:t>YES (AgileRPM)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9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Inter"/>
                        </a:rPr>
                        <a:t>Select Medical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NYSE: SEM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EF44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EF4444"/>
                          </a:solidFill>
                          <a:latin typeface="Inter"/>
                        </a:rPr>
                        <a:t>NO (Third-party)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Inter"/>
                        </a:rPr>
                        <a:t>Kindred Healthcare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NYSE: KND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EF44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EF44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EF4444"/>
                          </a:solidFill>
                          <a:latin typeface="Inter"/>
                        </a:rPr>
                        <a:t>NO (Third-party)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Inter"/>
                        </a:rPr>
                        <a:t>US Physical Therapy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Inter"/>
                        </a:rPr>
                        <a:t>NASDAQ: USPH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EF44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EF4444"/>
                          </a:solidFill>
                          <a:latin typeface="Inter"/>
                        </a:rPr>
                        <a:t>NO (Third-party)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Public Peer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5114925"/>
            <a:ext cx="112204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4E3B"/>
                </a:solidFill>
                <a:latin typeface="Inter"/>
              </a:rPr>
              <a:t>Valuation Advantage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5391150"/>
            <a:ext cx="112204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65F46"/>
                </a:solidFill>
                <a:latin typeface="Inter"/>
              </a:rPr>
              <a:t>Public peers trade at 11x-14x EBITDA; AgileRPM's high-margin SaaS growth unlocks enterprise software revenue multiples for the group.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04900"/>
            <a:ext cx="1097280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24125"/>
            <a:ext cx="1097280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43350"/>
            <a:ext cx="10972800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5381625"/>
            <a:ext cx="1097280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524125"/>
            <a:ext cx="38100" cy="11906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943350"/>
            <a:ext cx="38100" cy="12096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Risk Analysis &amp; Mitigation Strategies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0187"/>
            <a:ext cx="1785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00212"/>
            <a:ext cx="178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Commercial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7950" y="1409700"/>
            <a:ext cx="41623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IDENTIFIED RISK (MEDIUM)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7950" y="1609725"/>
            <a:ext cx="342513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Sales cycle length in hospital chains (12-18 mos).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2630" y="1409700"/>
            <a:ext cx="590936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2630" y="1609725"/>
            <a:ext cx="509021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Target independent 10-50 clinic PT chains with 60-day decision cycles.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2919412"/>
            <a:ext cx="1785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3119437"/>
            <a:ext cx="178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6050" y="2828925"/>
            <a:ext cx="4143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Inter"/>
              </a:rPr>
              <a:t>IDENTIFIED RISK (HIGH)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6050" y="3028950"/>
            <a:ext cx="3409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EHR interoperability with hospital systems (Epic/Cerner).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5550" y="2828925"/>
            <a:ext cx="5886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MITIGATION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5550" y="3028950"/>
            <a:ext cx="5067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Build pre-certified HL7 / FHIR API connectors using investment proceeds.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4248150"/>
            <a:ext cx="1785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4448175"/>
            <a:ext cx="1524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Regulatory /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6050" y="4257675"/>
            <a:ext cx="4143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Inter"/>
              </a:rPr>
              <a:t>IDENTIFIED RISK (HIGH)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86050" y="4457700"/>
            <a:ext cx="3409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Protected Health Information (PHI) cybersecurity breach.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5550" y="4257675"/>
            <a:ext cx="5886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MITIGATION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5550" y="4457700"/>
            <a:ext cx="5067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SOC 2 Type II compliance, $10M cyber liability insurance, quarterly pen tests.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76912"/>
            <a:ext cx="1785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CATEGORY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76937"/>
            <a:ext cx="178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Financing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47950" y="5781675"/>
            <a:ext cx="41623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IDENTIFIED RISK (MEDIUM)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47950" y="5981700"/>
            <a:ext cx="41623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Working capital during rapid SaaS expansion.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2630" y="5686425"/>
            <a:ext cx="590936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MITIGATION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2630" y="5886450"/>
            <a:ext cx="509021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Maintain 24-month cash runway; profitable core clinical division safety net.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248025"/>
            <a:ext cx="2743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527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381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52800" y="3248025"/>
            <a:ext cx="2743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52800" y="31527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381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3248025"/>
            <a:ext cx="27432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0" y="31527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381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39200" y="3248025"/>
            <a:ext cx="27432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39200" y="31527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3810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-381000" y="457200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Inter"/>
              </a:rPr>
              <a:t>Strategic Milestones &amp; 18-Month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590925"/>
            <a:ext cx="3429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Q1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857625"/>
            <a:ext cx="36004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Close Series A Funding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62425"/>
            <a:ext cx="26098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$12.0M Total / $3.0M Lead Check secured.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2800" y="3590925"/>
            <a:ext cx="3429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Q3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2800" y="3857625"/>
            <a:ext cx="36004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Scale Active Clinics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2800" y="4162425"/>
            <a:ext cx="26098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Expand from 32 to 75 operational clinics ($4.5M ARR).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3590925"/>
            <a:ext cx="3429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Q1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3857625"/>
            <a:ext cx="36004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Enterprise Connectors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4162425"/>
            <a:ext cx="26098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Complete HL7/FHIR connectors for Epic &amp; Cerner.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9200" y="3590925"/>
            <a:ext cx="33528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Q4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9200" y="3857625"/>
            <a:ext cx="3352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150+ Clinics &amp; AI 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9200" y="4162425"/>
            <a:ext cx="28384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Reach $12.5M ARR &amp; launch AI Auto-Coding Module.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84740" y="3857625"/>
            <a:ext cx="3897659" cy="2390775"/>
          </a:xfrm>
          <a:prstGeom prst="roundRect">
            <a:avLst>
              <a:gd name="adj" fmla="val 478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4740" y="3857625"/>
            <a:ext cx="3897659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540" y="5162550"/>
            <a:ext cx="228600" cy="133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540" y="5362575"/>
            <a:ext cx="228600" cy="133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657350"/>
            <a:ext cx="7673419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Inter"/>
              </a:rPr>
              <a:t>Investment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81250"/>
            <a:ext cx="594166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990850"/>
            <a:ext cx="594166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00450"/>
            <a:ext cx="594166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210050"/>
            <a:ext cx="594166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819650"/>
            <a:ext cx="594166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4740" y="609600"/>
            <a:ext cx="450725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Inter"/>
              </a:rPr>
              <a:t>Board of Directors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9540" y="4200525"/>
            <a:ext cx="411007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PRIMARY DEAL 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9540" y="4514850"/>
            <a:ext cx="420245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Inter"/>
              </a:rPr>
              <a:t>Terry Vanderkruyk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9540" y="4829175"/>
            <a:ext cx="411007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Chief Corporate Development Officer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9540" y="5143500"/>
            <a:ext cx="4110074" cy="1619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Inter"/>
              </a:rPr>
              <a:t>Terry@AgilityHealth.com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9540" y="5343525"/>
            <a:ext cx="4110074" cy="1619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Inter"/>
              </a:rPr>
              <a:t>+1 (604) 961-3844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9540" y="5657850"/>
            <a:ext cx="338330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Investor Relations: Grand Rapids, Michigan, USA</a:t>
            </a:r>
            <a:r>
              <a:t>
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 www.AgilityHealth.com / www.AgileRPM.com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5" y="2381250"/>
            <a:ext cx="572259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Large &amp; Growing Market: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 $38.5B physical therapy industry benefiting from aging demographics and outpatient migration.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2990850"/>
            <a:ext cx="569401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Proven Product-Market Fit: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 $2.1M ARR across 32 clinics with 28% therapist productivity gains.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3600450"/>
            <a:ext cx="569401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Attractive Deal Terms: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 $3.0M fund check for 5.0% equity with 24 months runway.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775" y="4210050"/>
            <a:ext cx="568449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Low Regulatory Risk: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 Exempt operational health software (non-device), avoiding lengthy FDA 510(k) cycles.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4819650"/>
            <a:ext cx="569401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Experienced Leadership: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 Management team with 100+ combined years in PT operations &amp; corporate finance.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4740" y="1038225"/>
            <a:ext cx="399290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2E8F0"/>
                </a:solidFill>
                <a:latin typeface="Inter"/>
              </a:rPr>
              <a:t>Robert Herr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 - Director &amp; Audit Chair (CPA, former Crowe Horwath LLP)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4740" y="1476375"/>
            <a:ext cx="399290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2E8F0"/>
                </a:solidFill>
                <a:latin typeface="Inter"/>
              </a:rPr>
              <a:t>Pierre Labbé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 - Independent Director (Former CFO of Medicago)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4740" y="1914525"/>
            <a:ext cx="399290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2E8F0"/>
                </a:solidFill>
                <a:latin typeface="Inter"/>
              </a:rPr>
              <a:t>Robert Metcalfe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 - Independent Director (Former Senior Partner Lang Michener LLP)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